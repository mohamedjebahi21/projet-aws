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45720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284C7"/>
                </a:solidFill>
              </a:defRPr>
            </a:pPr>
            <a:r>
              <a:t>SOUTENANCE LIVRABLES L1 - L2 - L3 • 15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Déploiement Résilient d'une Infrastructure</a:t>
            </a:r>
            <a:br/>
            <a:r>
              <a:t>Cloud AWS 3-Tiers : CineTrekker</a:t>
            </a:r>
          </a:p>
          <a:p>
            <a:pPr>
              <a:defRPr sz="1300">
                <a:solidFill>
                  <a:srgbClr val="0284C7"/>
                </a:solidFill>
              </a:defRPr>
            </a:pPr>
            <a:r>
              <a:t>Infrastructure as Code (Terraform) • VPC Multi-AZ • Auto Scaling • Sécurité Zero-Trust • Budget 50$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474720"/>
            <a:ext cx="10515600" cy="26517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spcAft>
                <a:spcPts val="800"/>
              </a:spcAft>
              <a:defRPr sz="1050" b="1">
                <a:solidFill>
                  <a:srgbClr val="94A3B8"/>
                </a:solidFill>
              </a:defRPr>
            </a:pPr>
            <a:r>
              <a:t>ÉQUIPE PROJET (PROMOTION ING-4 • MODULE ING-4-CIM) — ENSEIGNANT : M. HAMDI CHEBBI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FFF"/>
                </a:solidFill>
              </a:rPr>
              <a:t>• 1. Mohamed JEBAHI : </a:t>
            </a:r>
            <a:r>
              <a:rPr sz="1000">
                <a:solidFill>
                  <a:srgbClr val="CBD5E1"/>
                </a:solidFill>
              </a:rPr>
              <a:t>Lead Développeur Applicatif &amp; Intégration Cloud (mohamed.jebahi21@gmail.com)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FFF"/>
                </a:solidFill>
              </a:rPr>
              <a:t>• 2. Mohamed LAAMERI : </a:t>
            </a:r>
            <a:r>
              <a:rPr sz="1000">
                <a:solidFill>
                  <a:srgbClr val="CBD5E1"/>
                </a:solidFill>
              </a:rPr>
              <a:t>Lead Cloud Architect &amp; IaC Terraform Réseau/Calcul (lamerimohamed870@gmail.com)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FFF"/>
                </a:solidFill>
              </a:rPr>
              <a:t>• 3. Salma KAHLA : </a:t>
            </a:r>
            <a:r>
              <a:rPr sz="1000">
                <a:solidFill>
                  <a:srgbClr val="CBD5E1"/>
                </a:solidFill>
              </a:rPr>
              <a:t>Ingénieure Sécurité Cloud &amp; Persistance des Données (salmabenkahla40@gmail.com)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FFF"/>
                </a:solidFill>
              </a:rPr>
              <a:t>• 4. Arij CHAIBI : </a:t>
            </a:r>
            <a:r>
              <a:rPr sz="1000">
                <a:solidFill>
                  <a:srgbClr val="CBD5E1"/>
                </a:solidFill>
              </a:rPr>
              <a:t>Ingénieure DevOps &amp; Automatisation CI/CD (Deploy/Destroy) (arijchaibi51@gmail.com)</a:t>
            </a:r>
          </a:p>
          <a:p>
            <a:pPr>
              <a:spcAft>
                <a:spcPts val="200"/>
              </a:spcAft>
            </a:pPr>
            <a:r>
              <a:rPr b="1" sz="1050">
                <a:solidFill>
                  <a:srgbClr val="FFFFFF"/>
                </a:solidFill>
              </a:rPr>
              <a:t>• 5. Mouheddin KHARRAT : </a:t>
            </a:r>
            <a:r>
              <a:rPr sz="1000">
                <a:solidFill>
                  <a:srgbClr val="CBD5E1"/>
                </a:solidFill>
              </a:rPr>
              <a:t>Ingénieur Supervision, Observabilité SRE &amp; Documentation (Mohidinemoha5@gmail.com)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CADRAGE DU PROJET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Contexte Académique &amp; Contraintes AWS Academy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4E9A"/>
                </a:solidFill>
              </a:defRPr>
            </a:pPr>
            <a:r>
              <a:t>🎓 Contexte du Projet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Module ING-4-CIM : </a:t>
            </a:r>
            <a:r>
              <a:rPr sz="1000">
                <a:solidFill>
                  <a:srgbClr val="1E293B"/>
                </a:solidFill>
              </a:rPr>
              <a:t>Projet et Déploiement d'Infrastructure Cloud à l'école d'ingénieurs TEK-UP.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Durée du Projet : </a:t>
            </a:r>
            <a:r>
              <a:rPr sz="1000">
                <a:solidFill>
                  <a:srgbClr val="1E293B"/>
                </a:solidFill>
              </a:rPr>
              <a:t>14 semaines d'ingénierie et d'exploitation rigoureuse.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Objectif Principal : </a:t>
            </a:r>
            <a:r>
              <a:rPr sz="1000">
                <a:solidFill>
                  <a:srgbClr val="1E293B"/>
                </a:solidFill>
              </a:rPr>
              <a:t>Concevoir, déployer par code et exploiter une architecture web 3-tiers résiliente face aux pannes.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Évaluation Notée : </a:t>
            </a:r>
            <a:r>
              <a:rPr sz="1000">
                <a:solidFill>
                  <a:srgbClr val="1E293B"/>
                </a:solidFill>
              </a:rPr>
              <a:t>Soutenance chronométrée de 15 minutes avec démonstration live et participation active des 5 membres.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⚠️ Contraintes AWS Learner Lab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Plafond Budgétaire Strict : </a:t>
            </a:r>
            <a:r>
              <a:rPr sz="1000">
                <a:solidFill>
                  <a:srgbClr val="1E293B"/>
                </a:solidFill>
              </a:rPr>
              <a:t>Crédit unique et non renouvelable de 50 USD par étudiant sur le semestre.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Région Imposée : </a:t>
            </a:r>
            <a:r>
              <a:rPr sz="1000">
                <a:solidFill>
                  <a:srgbClr val="1E293B"/>
                </a:solidFill>
              </a:rPr>
              <a:t>us-east-1 (Virginie du Nord) paramétrée en variable Terraform.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Interdiction Console : </a:t>
            </a:r>
            <a:r>
              <a:rPr sz="1000">
                <a:solidFill>
                  <a:srgbClr val="1E293B"/>
                </a:solidFill>
              </a:rPr>
              <a:t>« Une infrastructure construite à la main dans la console n'est pas recevable » (M. Chebbi).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Rôles IAM Verrouillés : </a:t>
            </a:r>
            <a:r>
              <a:rPr sz="1000">
                <a:solidFill>
                  <a:srgbClr val="1E293B"/>
                </a:solidFill>
              </a:rPr>
              <a:t>Interdiction de créer des rôles IAM (SCPs) ; utilisation stricte de LabRole et LabInstanceProfile.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Règle de Fin de Séance : </a:t>
            </a:r>
            <a:r>
              <a:rPr sz="1000">
                <a:solidFill>
                  <a:srgbClr val="1E293B"/>
                </a:solidFill>
              </a:rPr>
              <a:t>« Une semaine d'oubli consomme ~35% du crédit » =&gt; Destruction obligatoire à chaque fin de séance.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CHARGE DE TRAVAIL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L1 : Application Retenue &amp; Composants Logiciels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4E9A"/>
                </a:solidFill>
              </a:defRPr>
            </a:pPr>
            <a:r>
              <a:t>🎬 Application Web : CineTrekker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Description : </a:t>
            </a:r>
            <a:r>
              <a:rPr sz="1000">
                <a:solidFill>
                  <a:srgbClr val="1E293B"/>
                </a:solidFill>
              </a:rPr>
              <a:t>Plateforme cinéphile moderne de découverte, suivi de visionnage et recommandation personnalisée.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Catalogue &amp; Tendances : </a:t>
            </a:r>
            <a:r>
              <a:rPr sz="1000">
                <a:solidFill>
                  <a:srgbClr val="1E293B"/>
                </a:solidFill>
              </a:rPr>
              <a:t>Exploration multi-critères (genres, notes, dates de sortie) connectée à l'API TMDB.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Fiches Riches : </a:t>
            </a:r>
            <a:r>
              <a:rPr sz="1000">
                <a:solidFill>
                  <a:srgbClr val="1E293B"/>
                </a:solidFill>
              </a:rPr>
              <a:t>Synopsis détaillés, casting, bandes-annonces vidéo intégrées et avis.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Contrôle de Santé (/health) : </a:t>
            </a:r>
            <a:r>
              <a:rPr sz="1000">
                <a:solidFill>
                  <a:srgbClr val="1E293B"/>
                </a:solidFill>
              </a:rPr>
              <a:t>Endpoint applicatif dédié répondant HTTP 200 JSON pour les health checks de l'ALB.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Proxy API (/api/tmdb-proxy) : </a:t>
            </a:r>
            <a:r>
              <a:rPr sz="1000">
                <a:solidFill>
                  <a:srgbClr val="1E293B"/>
                </a:solidFill>
              </a:rPr>
              <a:t>Proxy interne Node.js évitant les blocages CORS et sécurisant les requêtes externes.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4E9A"/>
                </a:solidFill>
              </a:defRPr>
            </a:pPr>
            <a:r>
              <a:t>💻 Stack Technique &amp; Dépôt Git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Front-End : </a:t>
            </a:r>
            <a:r>
              <a:rPr sz="1000">
                <a:solidFill>
                  <a:srgbClr val="1E293B"/>
                </a:solidFill>
              </a:rPr>
              <a:t>React 19, TypeScript, Vite, Tailwind CSS (Single Page Application optimisée).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Back-End / HTTP : </a:t>
            </a:r>
            <a:r>
              <a:rPr sz="1000">
                <a:solidFill>
                  <a:srgbClr val="1E293B"/>
                </a:solidFill>
              </a:rPr>
              <a:t>Node.js ESM natif (server.js) écoutant sur le port interne 8080.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Service Linux : </a:t>
            </a:r>
            <a:r>
              <a:rPr sz="1000">
                <a:solidFill>
                  <a:srgbClr val="1E293B"/>
                </a:solidFill>
              </a:rPr>
              <a:t>Service systemd (cinetrekker.service) assurant l'auto-restart en cas de crash.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Stateless Design : </a:t>
            </a:r>
            <a:r>
              <a:rPr sz="1000">
                <a:solidFill>
                  <a:srgbClr val="1E293B"/>
                </a:solidFill>
              </a:rPr>
              <a:t>Aucune donnée persistante locale : serveurs EC2 remplaçables à tout moment.</a:t>
            </a:r>
          </a:p>
          <a:p>
            <a:pPr>
              <a:spcAft>
                <a:spcPts val="600"/>
              </a:spcAft>
            </a:pPr>
            <a:r>
              <a:rPr sz="1050">
                <a:solidFill>
                  <a:srgbClr val="0F172A"/>
                </a:solidFill>
              </a:rPr>
              <a:t>• Dépôt GitHub Public : </a:t>
            </a:r>
            <a:r>
              <a:rPr sz="1000">
                <a:solidFill>
                  <a:srgbClr val="1E293B"/>
                </a:solidFill>
              </a:rPr>
              <a:t>https://github.com/MohamedJebahi21/projet-aws (commits nominatifs des 5 membres).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SPÉCIFICATIONS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Exigences Fonctionnelles &amp; Non-Fonctionnelles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4E9A"/>
                </a:solidFill>
              </a:defRPr>
            </a:pPr>
            <a:r>
              <a:t>🎯 Exigences Fonctionnelles Clés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F-01 : Point d'Entrée Unique :
  </a:t>
            </a:r>
            <a:r>
              <a:rPr sz="900">
                <a:solidFill>
                  <a:srgbClr val="1E293B"/>
                </a:solidFill>
              </a:rPr>
              <a:t>L'utilisateur accède au site uniquement via l'URL publique de l'Application Load Balancer.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F-02 : Répartition de Charge :
  </a:t>
            </a:r>
            <a:r>
              <a:rPr sz="900">
                <a:solidFill>
                  <a:srgbClr val="1E293B"/>
                </a:solidFill>
              </a:rPr>
              <a:t>L'ALB distribue les requêtes HTTP entre les instances saines (Round-Robin).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F-03 : Auto-Guérison :
  </a:t>
            </a:r>
            <a:r>
              <a:rPr sz="900">
                <a:solidFill>
                  <a:srgbClr val="1E293B"/>
                </a:solidFill>
              </a:rPr>
              <a:t>Remplacement automatique par l'Auto Scaling Group de toute instance EC2 défaillante.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F-04 : Health Check Actif :
  </a:t>
            </a:r>
            <a:r>
              <a:rPr sz="900">
                <a:solidFill>
                  <a:srgbClr val="1E293B"/>
                </a:solidFill>
              </a:rPr>
              <a:t>Sondage permanent de l'URL /health sur le port 8080 toutes les 15 secondes.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F-05 : Persistance Relationnelle :
  </a:t>
            </a:r>
            <a:r>
              <a:rPr sz="900">
                <a:solidFill>
                  <a:srgbClr val="1E293B"/>
                </a:solidFill>
              </a:rPr>
              <a:t>Stockage privé des données dans Amazon RDS PostgreSQL (db.t3.micro).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F-06 : Sortie Internet Contrôlée :
  </a:t>
            </a:r>
            <a:r>
              <a:rPr sz="900">
                <a:solidFill>
                  <a:srgbClr val="1E293B"/>
                </a:solidFill>
              </a:rPr>
              <a:t>Accès sortant des serveurs privés vers l'API TMDB via l'instance NAT.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4E9A"/>
                </a:solidFill>
              </a:defRPr>
            </a:pPr>
            <a:r>
              <a:t>🛡️ Exigences Non-Fonctionnelles &amp; Métriques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Haute Disponibilité :
  </a:t>
            </a:r>
            <a:r>
              <a:rPr sz="900">
                <a:solidFill>
                  <a:srgbClr val="1E293B"/>
                </a:solidFill>
              </a:rPr>
              <a:t>Tolérance à la panne d'1 instance sans coupure de service (0 erreur 5xx ; reprise &lt; 5 min).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Performance &amp; Latence :
  </a:t>
            </a:r>
            <a:r>
              <a:rPr sz="900">
                <a:solidFill>
                  <a:srgbClr val="1E293B"/>
                </a:solidFill>
              </a:rPr>
              <a:t>Latence moyenne &lt; 150 ms sous charge nominale (20 à 100 utilisateurs simultanés).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Sécurité Zero-Trust :
  </a:t>
            </a:r>
            <a:r>
              <a:rPr sz="900">
                <a:solidFill>
                  <a:srgbClr val="1E293B"/>
                </a:solidFill>
              </a:rPr>
              <a:t>0 port SSH (22) ouvert sur Internet ; chaînage strict alb-sg -&gt; app-sg -&gt; db-sg.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Reproductibilité IaC :
  </a:t>
            </a:r>
            <a:r>
              <a:rPr sz="900">
                <a:solidFill>
                  <a:srgbClr val="1E293B"/>
                </a:solidFill>
              </a:rPr>
              <a:t>Reconstruction complète chronométrée en 3 min 26 s (100% automatisée sans console).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Destruction Propre :
  </a:t>
            </a:r>
            <a:r>
              <a:rPr sz="900">
                <a:solidFill>
                  <a:srgbClr val="1E293B"/>
                </a:solidFill>
              </a:rPr>
              <a:t>Destruction totale en 2 min 29 s arrêtant immédiatement la facturation horaire ($0.00).</a:t>
            </a:r>
          </a:p>
          <a:p>
            <a:pPr>
              <a:spcAft>
                <a:spcPts val="300"/>
              </a:spcAft>
            </a:pPr>
            <a:r>
              <a:rPr sz="950">
                <a:solidFill>
                  <a:srgbClr val="0F172A"/>
                </a:solidFill>
              </a:rPr>
              <a:t>• Plafond Financier :
  </a:t>
            </a:r>
            <a:r>
              <a:rPr sz="900">
                <a:solidFill>
                  <a:srgbClr val="1E293B"/>
                </a:solidFill>
              </a:rPr>
              <a:t>Consommation projetée &lt; 35 USD sur le semestre (marge de sécurité &gt; 30% sur les 50$).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ARCHITECTURE RÉSEAU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Conception Réseau : VPC Multi-AZ &amp; Découpage 3-Tiers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32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1280160"/>
                <a:gridCol w="1371600"/>
                <a:gridCol w="4206240"/>
              </a:tblGrid>
              <a:tr h="300445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Sous-réseau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Zone (AZ)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Bloc CIDR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Composants &amp; Rôle Technique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public-subnet-1a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10.0.1.0/24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Nœud ALB Zone A + Instance NAT EC2 (t3.micro)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public-subnet-1b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10.0.2.0/24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Public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Nœud ALB Zone B (Équilibrage multi-AZ)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private-app-subnet-1a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10.0.11.0/24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Instance EC2 Applicative A (Auto Scaling Group)</a:t>
                      </a:r>
                    </a:p>
                  </a:txBody>
                  <a:tcPr/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private-app-subnet-1b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10.0.12.0/24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Instance EC2 Applicative B (Auto Scaling Group)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private-db-subnet-1a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10.0.21.0/24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Isolé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Instance Active RDS PostgreSQL (Single-AZ)</a:t>
                      </a:r>
                    </a:p>
                  </a:txBody>
                  <a:tcPr/>
                </a:tc>
              </a:tr>
              <a:tr h="30045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private-db-subnet-1b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us-east-1b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10.0.22.0/24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Isolé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Réservé DB Subnet Group (Obligation technique AWS)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93192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F172A"/>
                </a:solidFill>
              </a:defRPr>
            </a:pPr>
            <a:r>
              <a:t>💡 Principes Fondamentaux de la Conception Réseau :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Étanchéité en 3 Niveaux : </a:t>
            </a:r>
            <a:r>
              <a:rPr sz="950">
                <a:solidFill>
                  <a:srgbClr val="1E293B"/>
                </a:solidFill>
              </a:rPr>
              <a:t>Le Tier Public (ALB/NAT) isole le Tier Applicatif (EC2 privées sans IP publique), qui isole à son tour le Tier Données (RDS sans aucune route Internet).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Subnet DB 1b Réservé : </a:t>
            </a:r>
            <a:r>
              <a:rPr sz="950">
                <a:solidFill>
                  <a:srgbClr val="1E293B"/>
                </a:solidFill>
              </a:rPr>
              <a:t>AWS impose qu'un DB Subnet Group contienne au moins 2 AZs. Le subnet 1b est provisionné pour respecter l'API AWS, mais reste 100% vide pour économiser les 50$ (multi_az = false).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Routage Asymétrique Sécurisé : </a:t>
            </a:r>
            <a:r>
              <a:rPr sz="950">
                <a:solidFill>
                  <a:srgbClr val="1E293B"/>
                </a:solidFill>
              </a:rPr>
              <a:t>Entrée via l'ALB public (Port 80) -&gt; Sortie vers Internet via l'Instance NAT en SNAT -&gt; Sortie vers S3 via Gateway Endpoint direct gratuit.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SÉCURITÉ DU CLOUD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Sécurité Périmétrique : Chaînage des Security Groups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004E9A"/>
                </a:solidFill>
              </a:defRPr>
            </a:pPr>
            <a:r>
              <a:t>🔒 Principe du Moindre Privilège par Référencement Croisé (ID to ID)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03120"/>
          <a:ext cx="10332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2377440"/>
                <a:gridCol w="2194560"/>
                <a:gridCol w="2103120"/>
              </a:tblGrid>
              <a:tr h="384048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Groupe de Sécurité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Port &amp; Protocole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Source Autorisée (Ingress)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Destination (Egress)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Rôle / Protection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cinetrekker-dev-alb-sg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TCP 80 (HTTP)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0.0.0.0/0 (Internet Public)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TCP 8080 vers app-sg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Seul point d'entrée public de l'infrastructure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cinetrekker-dev-app-sg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TCP 8080 (HTTP)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alb-sg uniquement (par ID)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TCP 5432 (RDS), S3, NAT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Rejette tout paquet ne provenant pas de l'ALB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cinetrekker-dev-nat-sg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Tout trafic sortant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Subnets Applicatifs (10.0.11/12)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0.0.0.0/0 (Internet Public)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Assure le SNAT vers Internet pour les EC2 privées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cinetrekker-dev-db-sg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TCP 5432 (Postgres)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app-sg uniquement (par ID)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Aucun trafic sortant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Inaccessible depuis l'ALB ou Internet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20624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0F172A"/>
                </a:solidFill>
              </a:defRPr>
            </a:pPr>
            <a:r>
              <a:t>🛡️ Administration Zero-Trust sans Port SSH :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Aucun Port 22 (SSH) Ouvert : </a:t>
            </a:r>
            <a:r>
              <a:rPr sz="950">
                <a:solidFill>
                  <a:srgbClr val="1E293B"/>
                </a:solidFill>
              </a:rPr>
              <a:t>Aucune instance EC2 n'expose de port SSH sur Internet. La surface d'attaque externe est réduite à zéro.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AWS Systems Manager (SSM) : </a:t>
            </a:r>
            <a:r>
              <a:rPr sz="950">
                <a:solidFill>
                  <a:srgbClr val="1E293B"/>
                </a:solidFill>
              </a:rPr>
              <a:t>L'accès opérateur s'effectue via SSM Session Manager en tunnel chiffré TLS grâce au profil IAM LabInstanceProfile.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0F172A"/>
                </a:solidFill>
              </a:rPr>
              <a:t>• Chiffrement au Repos Intégral : </a:t>
            </a:r>
            <a:r>
              <a:rPr sz="950">
                <a:solidFill>
                  <a:srgbClr val="1E293B"/>
                </a:solidFill>
              </a:rPr>
              <a:t>Volumes EBS racines gp3 chiffrés en AES-256 ; Bucket S3 chiffré en SSE-S3 ; Stockage RDS PostgreSQL chiffré.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ARCHITECTURE TECHNIQUE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L2 : Schéma d'Architecture Cible AWS 3-Tiers</a:t>
            </a:r>
          </a:p>
        </p:txBody>
      </p:sp>
      <p:pic>
        <p:nvPicPr>
          <p:cNvPr id="3" name="Picture 2" descr="media_1793271743834_c46ac2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371600"/>
            <a:ext cx="3200400" cy="49377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554480"/>
            <a:ext cx="2834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400">
                <a:solidFill>
                  <a:srgbClr val="004E9A"/>
                </a:solidFill>
              </a:defRPr>
            </a:pPr>
            <a:r>
              <a:t>Flux &amp; Connexions :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1. Entrée Web :
  </a:t>
            </a:r>
            <a:r>
              <a:rPr sz="900">
                <a:solidFill>
                  <a:srgbClr val="1E293B"/>
                </a:solidFill>
              </a:rPr>
              <a:t>Internaute -&gt; IGW -&gt; ALB Public Multi-AZ (Port 80 HTTP).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2. Équilibrage :
  </a:t>
            </a:r>
            <a:r>
              <a:rPr sz="900">
                <a:solidFill>
                  <a:srgbClr val="1E293B"/>
                </a:solidFill>
              </a:rPr>
              <a:t>ALB -&gt; EC2 A (1a) &amp; EC2 B (1b) privées sur le port 8080 (app-sg).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3. Persistance RDS :
  </a:t>
            </a:r>
            <a:r>
              <a:rPr sz="900">
                <a:solidFill>
                  <a:srgbClr val="1E293B"/>
                </a:solidFill>
              </a:rPr>
              <a:t>Les 2 EC2 contactent l'instance RDS en 1a sur le port 5432 (Single-AZ).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4. Code S3 :
  </a:t>
            </a:r>
            <a:r>
              <a:rPr sz="900">
                <a:solidFill>
                  <a:srgbClr val="1E293B"/>
                </a:solidFill>
              </a:rPr>
              <a:t>Téléchargement direct via VPC Gateway Endpoint S3 (100% gratuit).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5. Sortie NAT :
  </a:t>
            </a:r>
            <a:r>
              <a:rPr sz="900">
                <a:solidFill>
                  <a:srgbClr val="1E293B"/>
                </a:solidFill>
              </a:rPr>
              <a:t>Les 2 EC2 sortent vers Internet (API TMDB) via l'instance NAT (t3.micro).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6. Supervision :
  </a:t>
            </a:r>
            <a:r>
              <a:rPr sz="900">
                <a:solidFill>
                  <a:srgbClr val="1E293B"/>
                </a:solidFill>
              </a:rPr>
              <a:t>CloudWatch collecte les métriques ALB/EC2 et les logs Node.js.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LIVRABLE L2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Justification des Choix — 5 Axes (Réseau &amp; Calcul)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32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1737360"/>
                <a:gridCol w="1828800"/>
                <a:gridCol w="1645920"/>
                <a:gridCol w="1645920"/>
              </a:tblGrid>
              <a:tr h="859536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Service AWS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1. Disponibilité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2. Performance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3. Sécurité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4. Scalabilité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5. Coût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VPC &amp; Subnets Multi-AZ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2 AZs (1a &amp; 1b) éliminant toute panne matérielle locale.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Segmentation réseau ; latence inter-AZ minimale &lt; 1 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3 tiers isolés ; zéro accès direct depuis Internet sur les données.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Adressage /24 dimensionné (251 adresses IP utiles par subnet).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100% GRATUIT (Service natif AWS).</a:t>
                      </a:r>
                    </a:p>
                  </a:txBody>
                  <a:tcPr/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Application Load Balancer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Répartit le trafic sur 2 AZs et évince les cibles en panne en &lt; 30s.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Routage HTTP L7 optimisé ; décharge de connexion.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Point d'entrée public unique ; masque les adresses IP internes des EC2.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Ajustement automatique de capacité face à la charge.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~0,0225 $/h ; détruit en fin de chaque séance.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Auto Scaling Group (ASG)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Remplace automatiquement toute instance défaillante en &lt; 5 min.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Charge répartie équitablement entre serveurs (latence &lt; 150 ms).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Instances hébergées en subnets privés sans IP publique.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Élasticité automatique de 1 à 4 instances t3.micro.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Service GRATUIT (seules les EC2 actives sont facturées).</a:t>
                      </a:r>
                    </a:p>
                  </a:txBody>
                  <a:tcPr/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Instance NAT EC2 (t3.micro)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Suffisante pour la charge atelier ; S3 déchargé sur VPCE.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Débit largement supérieur aux besoins TMDB et paquets Linux.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nat-sg n'accepte que le trafic issu des subnets applicatifs privés.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Dimensionnée pour le périmètre du projet.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Économie de 77% vs NAT Gateway managé (ADR-01).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LIVRABLE L2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Justification des Choix — 5 Axes (Données, S3 &amp; Supervision)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645920"/>
          <a:ext cx="10332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1737360"/>
                <a:gridCol w="1828800"/>
                <a:gridCol w="1645920"/>
                <a:gridCol w="1645920"/>
              </a:tblGrid>
              <a:tr h="859536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Service AWS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1. Disponibilité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2. Performance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3. Sécurité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4. Scalabilité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5. Coût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RDS PostgreSQL (db.t3.micro)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Sauvegardes automatisées 1 jour. Single-AZ (choix budget).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Moteur relationnel optimisé PostgreSQL 15, stockage gp3.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Sous-réseau privé isolé ; accessible uniquement via app-sg.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Taille de stockage et classe d'instance ajustables.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~0,016 $/h ; détruit en fin de séance pour préserver les 50$.</a:t>
                      </a:r>
                    </a:p>
                  </a:txBody>
                  <a:tcPr/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VPC Endpoint S3 (Gateway)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Haute disponibilité native managée par l'infrastructure AWS.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Backbone privé AWS : téléchargement du code en &lt; 2 secondes.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Trafic S3 reste 100% privé sans jamais transiter sur Internet.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Évolutivité illimitée et transparente gérée par AWS.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100% GRATUIT sans frais de données (ADR-05).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Bucket Amazon S3 (SSE-S3)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Durabilité de 99,999999999% (11 9s) sur l'artefact cinetrekker.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Téléchargement parallèle rapide au boot des instances EC2.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BlockPublicAccess activé ; chiffrement AES-256 côté serveur.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Capacité virtuellement infinie sans provisionnement préalable.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Coût négligeable (&lt; 0,01 $/mois pour ~50 Mo d'artefacts).</a:t>
                      </a:r>
                    </a:p>
                  </a:txBody>
                  <a:tcPr/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Amazon CloudWatch (Observabilité)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Supervision continue 24/7 de l'état de l'infrastructure.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Métriques temps réel et tableau de bord unifié (4 widgets).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Logs centralisés chiffrés ; alertes de santé des cibles ALB.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Ingestion automatique des logs et métriques EC2/ALB.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Métriques basiques gratuites ; logs &lt; 0,01 $ avec rétention 1j.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ARCHITECTURE APPROFONDIE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Focus Technique : Rôle de S3, du S3 Endpoint &amp; de CloudWatch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04E9A"/>
                </a:solidFill>
              </a:defRPr>
            </a:pPr>
            <a:r>
              <a:t>📦 1. Amazon S3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Rôle Principal :
  </a:t>
            </a:r>
            <a:r>
              <a:rPr sz="900">
                <a:solidFill>
                  <a:srgbClr val="1E293B"/>
                </a:solidFill>
              </a:rPr>
              <a:t>Coffre-fort privé hébergeant l'archive applicative cinetrekker.tar.gz (React 19 compilé + server.js).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Sécurité Maximale :
  </a:t>
            </a:r>
            <a:r>
              <a:rPr sz="900">
                <a:solidFill>
                  <a:srgbClr val="1E293B"/>
                </a:solidFill>
              </a:rPr>
              <a:t>BlockPublicAccess bloque toute requête Internet ; chiffrement SSE-S3 AES-256 activé par défaut.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Rôle IAM :
  </a:t>
            </a:r>
            <a:r>
              <a:rPr sz="900">
                <a:solidFill>
                  <a:srgbClr val="1E293B"/>
                </a:solidFill>
              </a:rPr>
              <a:t>Accessible uniquement par les EC2 via le profil LabInstanceProfile (aucun secret en dur dans le code).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284C7"/>
                </a:solidFill>
              </a:defRPr>
            </a:pPr>
            <a:r>
              <a:t>🛡️ 2. S3 VPC Gateway Endpoint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Le Problème Résolu :
  </a:t>
            </a:r>
            <a:r>
              <a:rPr sz="900">
                <a:solidFill>
                  <a:srgbClr val="1E293B"/>
                </a:solidFill>
              </a:rPr>
              <a:t>Sans endpoint, les EC2 privées devraient télécharger l'archive via l'instance NAT sur Internet, saturant la bande passante.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L'Autoroute Privée :
  </a:t>
            </a:r>
            <a:r>
              <a:rPr sz="900">
                <a:solidFill>
                  <a:srgbClr val="1E293B"/>
                </a:solidFill>
              </a:rPr>
              <a:t>Injecte une route interne prioritaire dans la table de routage privée : le trafic reste 100% sur le backbone AWS.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100% Gratuit (ADR-05) :
  </a:t>
            </a:r>
            <a:r>
              <a:rPr sz="900">
                <a:solidFill>
                  <a:srgbClr val="1E293B"/>
                </a:solidFill>
              </a:rPr>
              <a:t>0$ de frais horaires et 0$ de transfert de données (contrairement aux Interface Endpoints payants).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C026D3"/>
                </a:solidFill>
              </a:defRPr>
            </a:pPr>
            <a:r>
              <a:t>📊 3. Amazon CloudWatch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Tour de Contrôle :
  </a:t>
            </a:r>
            <a:r>
              <a:rPr sz="900">
                <a:solidFill>
                  <a:srgbClr val="1E293B"/>
                </a:solidFill>
              </a:rPr>
              <a:t>Collecte les métriques de l'ALB (requêtes, santé), le CPU de l'ASG et les logs Node.js.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Dashboard 4 Widgets :
  </a:t>
            </a:r>
            <a:r>
              <a:rPr sz="900">
                <a:solidFill>
                  <a:srgbClr val="1E293B"/>
                </a:solidFill>
              </a:rPr>
              <a:t>Visualisation en direct : Healthy Hosts, CPU %, Requêtes/Erreurs 5xx, Connexions RDS.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2 Alarmes Déclenchables :
  </a:t>
            </a:r>
            <a:r>
              <a:rPr sz="900">
                <a:solidFill>
                  <a:srgbClr val="1E293B"/>
                </a:solidFill>
              </a:rPr>
              <a:t>Alarme UnHealthyHostCount &gt;= 1 (panne d'instance) et CPUUtilization &gt; 70% (test de charge).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GESTION DES COÛTS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Estimation Financière &amp; Analyse d'Impact Budgétaire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621792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4E9A"/>
                </a:solidFill>
              </a:defRPr>
            </a:pPr>
            <a:r>
              <a:t>💰 Grille Tarifaire Réelle (us-east-1)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03120"/>
          <a:ext cx="5852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097280"/>
                <a:gridCol w="1097280"/>
              </a:tblGrid>
              <a:tr h="284480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Ressource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Coût / h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FFFFFF"/>
                          </a:solidFill>
                        </a:defRPr>
                      </a:pPr>
                      <a:r>
                        <a:t>Coût / mois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EC2 Applicatives (x2)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t3.micro (Linux 2023)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0,0208 $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15,18 $</a:t>
                      </a:r>
                    </a:p>
                  </a:txBody>
                  <a:tcPr/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Instance NAT (x1)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t3.micro AL2023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0,0104 $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7,59 $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Volumes EBS gp3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48 Go chiffrés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0,0053 $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3,84 $</a:t>
                      </a:r>
                    </a:p>
                  </a:txBody>
                  <a:tcPr/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Application LB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 ALB public + 1 LCU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~0,0240 $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17,52 $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RDS 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db.t3.micro Single-AZ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0,0160 $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11,68 $</a:t>
                      </a:r>
                    </a:p>
                  </a:txBody>
                  <a:tcPr/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Bucket S3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Artefact cinetrekker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&lt; 0,0001 $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&lt; 0,01 $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VPC Endpoint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Gateway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0,0000 $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0,00 $</a:t>
                      </a:r>
                    </a:p>
                  </a:txBody>
                  <a:tcPr/>
                </a:tc>
              </a:tr>
              <a:tr h="2844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TOTAL GÉNÉRAL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Infrastructure Complète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~0,0765 $ / h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~55,82 $ / m</a:t>
                      </a:r>
                    </a:p>
                  </a:txBody>
                  <a:tcPr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463040"/>
            <a:ext cx="42976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64592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F59E0B"/>
                </a:solidFill>
              </a:defRPr>
            </a:pPr>
            <a:r>
              <a:t>⚠️ Risque d'Oubli &amp; Impact Réel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0F172A"/>
                </a:solidFill>
              </a:rPr>
              <a:t>• Séance de Travail (3h) :
  </a:t>
            </a:r>
            <a:r>
              <a:rPr sz="950">
                <a:solidFill>
                  <a:srgbClr val="1E293B"/>
                </a:solidFill>
              </a:rPr>
              <a:t>3 x 0,0605 $ ≈ 0,18 $ (&lt; 0,4% du crédit de 50 USD).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0F172A"/>
                </a:solidFill>
              </a:rPr>
              <a:t>• 1 Semaine d'Oubli (168h) :
  </a:t>
            </a:r>
            <a:r>
              <a:rPr sz="950">
                <a:solidFill>
                  <a:srgbClr val="1E293B"/>
                </a:solidFill>
              </a:rPr>
              <a:t>168 x 0,0605 $ + LCU ≈ 13,81 $ (soit ~27% à 35% du crédit total !).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0F172A"/>
                </a:solidFill>
              </a:rPr>
              <a:t>• Règle de M. Chebbi :
  </a:t>
            </a:r>
            <a:r>
              <a:rPr sz="950">
                <a:solidFill>
                  <a:srgbClr val="1E293B"/>
                </a:solidFill>
              </a:rPr>
              <a:t>« Une semaine d'oubli consomme environ 35% du crédit de 50 USD. » Notre calcul le prouve mathématiquement.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0F172A"/>
                </a:solidFill>
              </a:rPr>
              <a:t>• Solution Déployée :
  </a:t>
            </a:r>
            <a:r>
              <a:rPr sz="950">
                <a:solidFill>
                  <a:srgbClr val="1E293B"/>
                </a:solidFill>
              </a:rPr>
              <a:t>Exécution obligatoire de LANCER_DESTROY_AWS.bat à la fin de chaque séance de travail.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DÉPLOIEMENT &amp; DESTRUCTION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L3 : Infrastructure as Code (Terraform) &amp; Automatisation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04E9A"/>
                </a:solidFill>
              </a:defRPr>
            </a:pPr>
            <a:r>
              <a:t>🏗️ Architecture Modulaire Terraform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infra/modules/reseau/ : </a:t>
            </a:r>
            <a:r>
              <a:rPr sz="900">
                <a:solidFill>
                  <a:srgbClr val="1E293B"/>
                </a:solidFill>
              </a:rPr>
              <a:t>VPC 10.0.0.0/16, 6 subnets multi-AZ, IGW, routes, Instance NAT, S3 Endpoint.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infra/modules/securite/ : </a:t>
            </a:r>
            <a:r>
              <a:rPr sz="900">
                <a:solidFill>
                  <a:srgbClr val="1E293B"/>
                </a:solidFill>
              </a:rPr>
              <a:t>Security Groups chaînés par ID (alb-sg, app-sg, nat-sg, db-sg) ; 0 port SSH.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infra/modules/stockage/ : </a:t>
            </a:r>
            <a:r>
              <a:rPr sz="900">
                <a:solidFill>
                  <a:srgbClr val="1E293B"/>
                </a:solidFill>
              </a:rPr>
              <a:t>Bucket S3 privé chiffré SSE-S3 AES-256 avec upload de cinetrekker.tar.gz.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infra/modules/calcul/ : </a:t>
            </a:r>
            <a:r>
              <a:rPr sz="900">
                <a:solidFill>
                  <a:srgbClr val="1E293B"/>
                </a:solidFill>
              </a:rPr>
              <a:t>Application Load Balancer, Target Group /health:8080, Launch Template, ASG (2 instances).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infra/modules/base-de-donnees/ : </a:t>
            </a:r>
            <a:r>
              <a:rPr sz="900">
                <a:solidFill>
                  <a:srgbClr val="1E293B"/>
                </a:solidFill>
              </a:rPr>
              <a:t>Module RDS PostgreSQL 15 db.t3.micro Single-AZ (activable selon phase).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infra/modules/supervision/ : </a:t>
            </a:r>
            <a:r>
              <a:rPr sz="900">
                <a:solidFill>
                  <a:srgbClr val="1E293B"/>
                </a:solidFill>
              </a:rPr>
              <a:t>Module CloudWatch Logs, Dashboard 4 widgets et 2 alarmes métriques.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⚡ Mesures Réelles des Scripts 1-Clic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LANCER_DEPLOY_AWS.bat :
  </a:t>
            </a:r>
            <a:r>
              <a:rPr sz="900">
                <a:solidFill>
                  <a:srgbClr val="1E293B"/>
                </a:solidFill>
              </a:rPr>
              <a:t>Déploiement complet en 3 min 26 s (validation AWS, upload S3, création VPC/ALB/ASG, Target Group sain).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LANCER_DESTROY_AWS.bat :
  </a:t>
            </a:r>
            <a:r>
              <a:rPr sz="900">
                <a:solidFill>
                  <a:srgbClr val="1E293B"/>
                </a:solidFill>
              </a:rPr>
              <a:t>Destruction propre en 2 min 29 s (arrêt immédiat de toutes les ressources horaires, crédit préservé).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Journal des Destructions :
  </a:t>
            </a:r>
            <a:r>
              <a:rPr sz="900">
                <a:solidFill>
                  <a:srgbClr val="1E293B"/>
                </a:solidFill>
              </a:rPr>
              <a:t>Suivi horodaté consigné dans docs/journal-destructions.md avec URL et durées.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Zéro Intervention Manuelle :
  </a:t>
            </a:r>
            <a:r>
              <a:rPr sz="900">
                <a:solidFill>
                  <a:srgbClr val="1E293B"/>
                </a:solidFill>
              </a:rPr>
              <a:t>Tout est reproductible depuis un terminal propre ou par double-clic.</a:t>
            </a:r>
          </a:p>
          <a:p>
            <a:pPr>
              <a:spcAft>
                <a:spcPts val="400"/>
              </a:spcAft>
            </a:pPr>
            <a:r>
              <a:rPr sz="950">
                <a:solidFill>
                  <a:srgbClr val="0F172A"/>
                </a:solidFill>
              </a:rPr>
              <a:t>• Démonstration Live Prête :
  </a:t>
            </a:r>
            <a:r>
              <a:rPr sz="900">
                <a:solidFill>
                  <a:srgbClr val="1E293B"/>
                </a:solidFill>
              </a:rPr>
              <a:t>Le temps de build (&lt; 3m30s) permet d'effectuer le déploiement et la destruction en direct pendant les 15 minutes.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</a:defRPr>
            </a:pPr>
            <a:r>
              <a:t>DÉMONSTRATION EN DIRECT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Déroulé Chronométré de la Soutenance (15 min)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04E9A"/>
                </a:solidFill>
              </a:defRPr>
            </a:pPr>
            <a:r>
              <a:t>⏱️ Répartition Équitable du Temps de Parole entre les 5 Étudiants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03120"/>
          <a:ext cx="10332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1828800"/>
                <a:gridCol w="4846320"/>
              </a:tblGrid>
              <a:tr h="487680"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Chrono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Intervenant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Livrable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50">
                          <a:solidFill>
                            <a:srgbClr val="FFFFFF"/>
                          </a:solidFill>
                        </a:defRPr>
                      </a:pPr>
                      <a:r>
                        <a:t>Action Réalisée en Direct</a:t>
                      </a:r>
                    </a:p>
                  </a:txBody>
                  <a:tcPr>
                    <a:solidFill>
                      <a:srgbClr val="004E9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00:00 - 02:30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Mohamed JEBAHI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L1 (Cadrage &amp; App)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Présentation de CineTrekker, stack technique, composants et dépôt GitHub.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02:30 - 05:00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Mohamed LAAMERI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L2 (Architecture Réseau)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Explication du schéma VPC Multi-AZ, des 6 subnets et de la justification des 5 axes.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05:00 - 07:00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Salma KAHLA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L2 (Sécurité &amp; Coûts)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Chaînage des Security Groups (ID to ID), estimation budgétaire et impact d'oubli.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07:00 - 10:30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Arij CHAIBI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L3 (IaC &amp; Live Deploy)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Lancement en direct de LANCER_DEPLOY_AWS.bat (Déploiement complet en ~3 min).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10:30 - 13:00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Mouheddin KHARRAT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L3 (Preuve &amp; Destruction)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Vérification console EC2/ALB, test du site web et lancement de LANCER_DESTROY_AWS.bat.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🎯 13:00 - 15:00 : Clôture de la séance et réponses aux questions de M. Hamdi Chebbi par tous les membres.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188720"/>
            <a:ext cx="9418320" cy="4480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457200"/>
          <a:lstStyle/>
          <a:p>
            <a:pPr algn="ctr">
              <a:spcAft>
                <a:spcPts val="1200"/>
              </a:spcAft>
              <a:defRPr b="1" sz="2100">
                <a:solidFill>
                  <a:srgbClr val="FFFFFF"/>
                </a:solidFill>
              </a:defRPr>
            </a:pPr>
            <a:r>
              <a:t>SYNTHÈSE DES ENGAGEMENTS &amp; CONCLUSION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284C7"/>
                </a:solidFill>
              </a:rPr>
              <a:t>✔  100% Infrastructure as Code : </a:t>
            </a:r>
            <a:r>
              <a:rPr sz="1100">
                <a:solidFill>
                  <a:srgbClr val="FFFFFF"/>
                </a:solidFill>
              </a:rPr>
              <a:t>Aucune ressource créée manuellement via la console AWS (conformité stricte aux exigences).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284C7"/>
                </a:solidFill>
              </a:rPr>
              <a:t>✔  Résilience &amp; Haute Disponibilité : </a:t>
            </a:r>
            <a:r>
              <a:rPr sz="1100">
                <a:solidFill>
                  <a:srgbClr val="FFFFFF"/>
                </a:solidFill>
              </a:rPr>
              <a:t>Architecture Multi-AZ avec bascule automatique sans interruption de service.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284C7"/>
                </a:solidFill>
              </a:rPr>
              <a:t>✔  Sécurité Périmétrique Zero-Trust : </a:t>
            </a:r>
            <a:r>
              <a:rPr sz="1100">
                <a:solidFill>
                  <a:srgbClr val="FFFFFF"/>
                </a:solidFill>
              </a:rPr>
              <a:t>Chaînage strict des Security Groups, aucun port SSH ouvert, administration via SSM.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284C7"/>
                </a:solidFill>
              </a:rPr>
              <a:t>✔  Maîtrise Parfaite du Budget : </a:t>
            </a:r>
            <a:r>
              <a:rPr sz="1100">
                <a:solidFill>
                  <a:srgbClr val="FFFFFF"/>
                </a:solidFill>
              </a:rPr>
              <a:t>Cycle de destruction rapide &lt; 3 min préservant l'intégralité du crédit de 50 USD.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284C7"/>
                </a:solidFill>
              </a:rPr>
              <a:t>✔  Dépôt GitHub Versionné : </a:t>
            </a:r>
            <a:r>
              <a:rPr sz="1100">
                <a:solidFill>
                  <a:srgbClr val="FFFFFF"/>
                </a:solidFill>
              </a:rPr>
              <a:t>https://github.com/MohamedJebahi21/projet-aws (Livrables L1, L2, L3 disponibles).</a:t>
            </a:r>
          </a:p>
          <a:p>
            <a:br/>
            <a:pPr algn="ctr">
              <a:defRPr b="1" sz="1400">
                <a:solidFill>
                  <a:srgbClr val="10B981"/>
                </a:solidFill>
              </a:defRPr>
            </a:pPr>
            <a:r>
              <a:t>Merci pour votre attention — Nous sommes prêts pour vos questions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