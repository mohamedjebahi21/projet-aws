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43891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SOUTENANCE LIVRABLES L1 - L2 - L3 •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Déploiement Résilient d'une Infrastructure</a:t>
            </a:r>
            <a:br/>
            <a:r>
              <a:t>Cloud AWS 3-Tiers : CineTrekker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Infrastructure as Code (Terraform) • Multi-AZ • Haute Disponibilité • Maîtrise des Coûts (50$)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1051560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100" b="1">
                <a:solidFill>
                  <a:srgbClr val="94A3B8"/>
                </a:solidFill>
              </a:defRPr>
            </a:pPr>
            <a:r>
              <a:t>ÉQUIPE DU PROJET (ING-4-CIM • TEK-UP) — ENSEIGNANT : M. HAMDI CHEBBI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FFFFFF"/>
                </a:solidFill>
              </a:rPr>
              <a:t>• 1. Mohamed JEBAHI : </a:t>
            </a:r>
            <a:r>
              <a:rPr sz="1100">
                <a:solidFill>
                  <a:srgbClr val="CBD5E1"/>
                </a:solidFill>
              </a:rPr>
              <a:t>Lead Développeur Applicatif &amp; Intégration Cloud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FFFFFF"/>
                </a:solidFill>
              </a:rPr>
              <a:t>• 2. Mohamed LAAMERI : </a:t>
            </a:r>
            <a:r>
              <a:rPr sz="1100">
                <a:solidFill>
                  <a:srgbClr val="CBD5E1"/>
                </a:solidFill>
              </a:rPr>
              <a:t>Lead Cloud Architect &amp; IaC Terraform Réseau/Calcul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FFFFFF"/>
                </a:solidFill>
              </a:rPr>
              <a:t>• 3. Salma KAHLA : </a:t>
            </a:r>
            <a:r>
              <a:rPr sz="1100">
                <a:solidFill>
                  <a:srgbClr val="CBD5E1"/>
                </a:solidFill>
              </a:rPr>
              <a:t>Ingénieure Sécurité Cloud &amp; Persistance des Données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FFFFFF"/>
                </a:solidFill>
              </a:rPr>
              <a:t>• 4. Arij CHAIBI : </a:t>
            </a:r>
            <a:r>
              <a:rPr sz="1100">
                <a:solidFill>
                  <a:srgbClr val="CBD5E1"/>
                </a:solidFill>
              </a:rPr>
              <a:t>Ingénieure DevOps &amp; Automatisation CI/CD (Déploiement/Destruction)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FFFFFF"/>
                </a:solidFill>
              </a:rPr>
              <a:t>• 5. Mouheddin KHARRAT : </a:t>
            </a:r>
            <a:r>
              <a:rPr sz="1100">
                <a:solidFill>
                  <a:srgbClr val="CBD5E1"/>
                </a:solidFill>
              </a:rPr>
              <a:t>Ingénieur Supervision, Observabilité SRE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CADRAGE DU PROJET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L1 : Sujet, Application Retenue &amp; Composants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4E9A"/>
                </a:solidFill>
              </a:defRPr>
            </a:pPr>
            <a:r>
              <a:t>L'Application Web : CineTrekker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Plateforme Cinéphile : </a:t>
            </a:r>
            <a:r>
              <a:rPr sz="1100">
                <a:solidFill>
                  <a:srgbClr val="1E293B"/>
                </a:solidFill>
              </a:rPr>
              <a:t>Exploration, suivi de visionnage et recommandation personnalisée de films et séries.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Front-End Moderne : </a:t>
            </a:r>
            <a:r>
              <a:rPr sz="1100">
                <a:solidFill>
                  <a:srgbClr val="1E293B"/>
                </a:solidFill>
              </a:rPr>
              <a:t>Single Page Application (SPA) en React 19, Vite, TypeScript et Tailwind CSS.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Back-End Léger : </a:t>
            </a:r>
            <a:r>
              <a:rPr sz="1100">
                <a:solidFill>
                  <a:srgbClr val="1E293B"/>
                </a:solidFill>
              </a:rPr>
              <a:t>Serveur HTTP natif Node.js ESM (server.js) écoutant sur le port interne 8080.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Contrôle de Santé : </a:t>
            </a:r>
            <a:r>
              <a:rPr sz="1100">
                <a:solidFill>
                  <a:srgbClr val="1E293B"/>
                </a:solidFill>
              </a:rPr>
              <a:t>Endpoint dédié /health retournant un statut HTTP 200 JSON pour l'ALB.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Proxy API Sécurisé : </a:t>
            </a:r>
            <a:r>
              <a:rPr sz="1100">
                <a:solidFill>
                  <a:srgbClr val="1E293B"/>
                </a:solidFill>
              </a:rPr>
              <a:t>Route interne /api/tmdb-proxy évitant les blocages CORS vers l'API TMDB.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4E9A"/>
                </a:solidFill>
              </a:defRPr>
            </a:pPr>
            <a:r>
              <a:t>Composants &amp; Dépôt Versionné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Infrastructure as Code : </a:t>
            </a:r>
            <a:r>
              <a:rPr sz="1100">
                <a:solidFill>
                  <a:srgbClr val="1E293B"/>
                </a:solidFill>
              </a:rPr>
              <a:t>100% défini en Terraform (aucun composant manuel via console).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Dépôt GitHub Public : </a:t>
            </a:r>
            <a:r>
              <a:rPr sz="1100">
                <a:solidFill>
                  <a:srgbClr val="1E293B"/>
                </a:solidFill>
              </a:rPr>
              <a:t>https://github.com/MohamedJebahi21/projet-aws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Traçabilité des 5 Étudiants : </a:t>
            </a:r>
            <a:r>
              <a:rPr sz="1100">
                <a:solidFill>
                  <a:srgbClr val="1E293B"/>
                </a:solidFill>
              </a:rPr>
              <a:t>Commits nominatifs et répartis sur les 5 membres de l'équipe.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Stateless Applicatif : </a:t>
            </a:r>
            <a:r>
              <a:rPr sz="1100">
                <a:solidFill>
                  <a:srgbClr val="1E293B"/>
                </a:solidFill>
              </a:rPr>
              <a:t>Les instances EC2 ne stockent aucun état local (données isolées sur S3 et RDS).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Environnement Cible : </a:t>
            </a:r>
            <a:r>
              <a:rPr sz="1100">
                <a:solidFill>
                  <a:srgbClr val="1E293B"/>
                </a:solidFill>
              </a:rPr>
              <a:t>AWS Academy Learner Lab (us-east-1, rôle LabRole, budget 50$).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CAHIER DES CHARGES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Besoins Fonctionnels &amp; Engagements Non-Fonctionnels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E9A"/>
                </a:solidFill>
              </a:defRPr>
            </a:pPr>
            <a:r>
              <a:t>Besoins Fonctionnels (F-01 à F-06)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[F-01] Accès Public Unique : </a:t>
            </a:r>
            <a:r>
              <a:rPr sz="1000"/>
              <a:t>Les internautes accèdent au site via l'URL DNS de l'Application Load Balancer.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[F-02] Distribution de Charge : </a:t>
            </a:r>
            <a:r>
              <a:rPr sz="1000"/>
              <a:t>L'ALB répartit le trafic entre les instances saines (Round-Robin).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[F-03] Auto-Guérison : </a:t>
            </a:r>
            <a:r>
              <a:rPr sz="1000"/>
              <a:t>Remplacement automatique de toute instance défaillante par l'ASG.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[F-04] Contrôle de Santé : </a:t>
            </a:r>
            <a:r>
              <a:rPr sz="1000"/>
              <a:t>Vérification toutes les 15s du endpoint /health sur le port 8080.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[F-05] Sortie Internet Sécurisée : </a:t>
            </a:r>
            <a:r>
              <a:rPr sz="1000"/>
              <a:t>Les instances privées accèdent aux APIs externes via l'instance NAT.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[F-06] Automatisation 1-Clic : </a:t>
            </a:r>
            <a:r>
              <a:rPr sz="1000"/>
              <a:t>Déploiement et destruction automatisés par scripts (deploy/destroy).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E9A"/>
                </a:solidFill>
              </a:defRPr>
            </a:pPr>
            <a:r>
              <a:t>Engagements Non-Fonctionnels (Cibles Chiffrées)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Disponibilité (Tolérance panne 1 instance) : </a:t>
            </a:r>
            <a:r>
              <a:rPr sz="1000"/>
              <a:t>0 interruption de service (0 erreur 5xx) ; remplacement en &lt; 5 min.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Performance (Temps de réponse réactif) : </a:t>
            </a:r>
            <a:r>
              <a:rPr sz="1000"/>
              <a:t>Latence moyenne &lt; 150 ms sous charge nominale (20 à 100 utilisateurs).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Reproductibilité (Reconstruction Rapide) : </a:t>
            </a:r>
            <a:r>
              <a:rPr sz="1000"/>
              <a:t>Déploiement complet mesuré à 3 min 26 s (permet la démo live de 15 min).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Sécurité Zero-Trust (Isolation Périmétrique) : </a:t>
            </a:r>
            <a:r>
              <a:rPr sz="1000"/>
              <a:t>0 port SSH (22) ouvert sur Internet ; chaînage strict des Security Groups.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F172A"/>
                </a:solidFill>
              </a:rPr>
              <a:t>• Budget Garanti (Préservation des 50$) : </a:t>
            </a:r>
            <a:r>
              <a:rPr sz="1000"/>
              <a:t>Destruction en &lt; 3 min ; consommation cible &lt; 35$ sur tout le semestre.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ARCHITECTURE RÉSEAU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Conception Réseau : VPC Multi-AZ &amp; Segmentation 3-Tiers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4E9A"/>
                </a:solidFill>
              </a:defRPr>
            </a:pPr>
            <a:r>
              <a:t>Plan d'Adressage VPC 10.0.0.0/16 (Région us-east-1)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2194560"/>
          <a:ext cx="10149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371600"/>
                <a:gridCol w="1463040"/>
                <a:gridCol w="3657600"/>
              </a:tblGrid>
              <a:tr h="28738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Sous-réseau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Zone (AZ)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Bloc CIDR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 / Tier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Composants &amp; Rôle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public-subnet-1a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us-east-1a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10.0.1.0/24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Nœud ALB Zone A + Instance NAT EC2 (t3.micro)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public-subnet-1b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us-east-1b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10.0.2.0/24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Nœud ALB Zone B (Équilibrage multi-AZ)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private-app-subnet-1a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us-east-1a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10.0.11.0/24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Privé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Instance EC2 Applicative A (Auto Scaling Group)</a:t>
                      </a:r>
                    </a:p>
                  </a:txBody>
                  <a:tcPr/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private-app-subnet-1b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us-east-1b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10.0.12.0/24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Privé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Instance EC2 Applicative B (Auto Scaling Group)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private-db-subnet-1a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us-east-1a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10.0.21.0/24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Isolé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Emplacement DB Instance RDS PostgreSQL</a:t>
                      </a:r>
                    </a:p>
                  </a:txBody>
                  <a:tcPr/>
                </a:tc>
              </a:tr>
              <a:tr h="28738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private-db-subnet-1b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us-east-1b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10.0.22.0/24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Isolé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Réservé DB Subnet Group (Obligation technique AWS)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438912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Points Clés de Conception Réseau :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Isolation en 3 tiers étanches : Tier Public (ALB/NAT) -&gt; Tier Privé Applicatif (EC2) -&gt; Tier Données Isolé (RDS).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Résilience Multi-AZ : Deux zones de disponibilité indépendantes (1a et 1b) éliminant tout Single Point of Failure (SPOF) sur le calcul.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</a:defRPr>
            </a:pPr>
            <a:r>
              <a:t>• Sécurité de sortie : Aucune route Internet sur le tier Données ; les serveurs applicatifs sortent uniquement via l'instance NAT.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ARCHITECTURE TECHNIQUE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L2 : Schéma d'Architecture Détaillé AWS 3-Tiers</a:t>
            </a:r>
          </a:p>
        </p:txBody>
      </p:sp>
      <p:pic>
        <p:nvPicPr>
          <p:cNvPr id="3" name="Picture 2" descr="media_1793271743834_c46ac2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371600"/>
            <a:ext cx="320040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554480"/>
            <a:ext cx="2834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04E9A"/>
                </a:solidFill>
              </a:defRPr>
            </a:pPr>
            <a:r>
              <a:t>Flux &amp; Connexions :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1. Entrée Utilisateur :
  </a:t>
            </a:r>
            <a:r>
              <a:rPr sz="900">
                <a:solidFill>
                  <a:srgbClr val="1E293B"/>
                </a:solidFill>
              </a:rPr>
              <a:t>Internet -&gt; IGW -&gt; ALB Public (Port 80 HTTP).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2. Équilibrage ASG :
  </a:t>
            </a:r>
            <a:r>
              <a:rPr sz="900">
                <a:solidFill>
                  <a:srgbClr val="1E293B"/>
                </a:solidFill>
              </a:rPr>
              <a:t>ALB -&gt; EC2 A &amp; B privées sur le Port 8080 (app-sg).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3. Persistance RDS :
  </a:t>
            </a:r>
            <a:r>
              <a:rPr sz="900">
                <a:solidFill>
                  <a:srgbClr val="1E293B"/>
                </a:solidFill>
              </a:rPr>
              <a:t>Les 2 EC2 contactent l'unique instance RDS en 1a sur le port 5432 (Single-AZ).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4. Téléchargement S3 :
  </a:t>
            </a:r>
            <a:r>
              <a:rPr sz="900">
                <a:solidFill>
                  <a:srgbClr val="1E293B"/>
                </a:solidFill>
              </a:rPr>
              <a:t>Liaison directe gratuite via VPC Gateway Endpoint S3.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5. Sortie NAT :
  </a:t>
            </a:r>
            <a:r>
              <a:rPr sz="900">
                <a:solidFill>
                  <a:srgbClr val="1E293B"/>
                </a:solidFill>
              </a:rPr>
              <a:t>Les 2 EC2 sortent vers Internet (API TMDB) via la NAT Instance.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6. Observabilité :
  </a:t>
            </a:r>
            <a:r>
              <a:rPr sz="900">
                <a:solidFill>
                  <a:srgbClr val="1E293B"/>
                </a:solidFill>
              </a:rPr>
              <a:t>Supervision centralisée des métriques et logs par CloudWatch.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ALIGNEMENT ARCHITECTURAL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Justification des Choix selon les 5 Axes Cloud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737360"/>
                <a:gridCol w="1828800"/>
                <a:gridCol w="1645920"/>
                <a:gridCol w="1645920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Service AWS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1. Disponibilité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2. Performance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3. Sécurité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4. Scalabilité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5. Coût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VPC &amp; Subnets Multi-AZ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2 AZs (1a &amp; 1b) ; tolérance aux pannes matérielles.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Segmentation réseau ; latence inter-AZ &lt; 1 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3 tiers isolés ; zéro accès direct sur les données.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Adressage /24 extensible (251 IPs/subnet).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100% GRATUIT (Service natif AWS).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Application Load Balancer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Équilibre et évince les cibles en panne sous 30s.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Routage HTTP L7 optimisé ; décharge SSL.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Point d'entrée unique masquant les serveurs EC2.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Ajustement automatique de la capacité.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~0,0225 $/h ; détruit en fin de séance.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Auto Scaling Group (ASG)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Remplace automatiquement toute instance en &lt; 5 min.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Charge répartie équitablement entre serveurs.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Instances privées sans IP publique directe.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Élasticité de 1 à 4 instances t3.micro.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Service GRATUIT (seules les EC2 sont payées).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Instance NAT (t3.micro)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Suffisante pour la charge atelier ; S3 déchargé sur VPCE.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Débit largement supérieur aux besoins TMDB/Linux.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nat-sg n'accepte que le trafic des subnets privés.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Dimensionnée pour le périmètre du projet.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Économie de 77% vs NAT Gateway (ADR-01).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VPC Endpoint S3 (Gateway)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Haute disponibilité native managée par AWS.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Bande passante interne maximale pour le code.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Le trafic ne transite jamais sur l'Internet public.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Évolutivité transparente illimitée.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100% GRATUIT sans frais de transfert (ADR-05).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MAÎTRISE DES COÛTS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Estimation Financière &amp; Gestion du Risque Budgétaire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4E9A"/>
                </a:solidFill>
              </a:defRPr>
            </a:pPr>
            <a:r>
              <a:t>Grille Tarifaire Réelle (Région us-east-1)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0312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188720"/>
                <a:gridCol w="1188720"/>
              </a:tblGrid>
              <a:tr h="2971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Ressource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Coût / h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Coût / mois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EC2 App (x2)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t3.micro (2 vCPU, 1 Go)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0,0208 $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15,18 $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Instance NAT (x1)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t3.micro AL2023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0,0104 $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7,59 $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Volumes EBS gp3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48 Go cumulés chiffrés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0,0053 $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3,84 $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Application LB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 ALB public + 1 LCU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~0,0240 $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17,52 $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Bucket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Artefact cinetrekker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 0,0001 $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 0,01 $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VPC Endpoint S3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Gateway 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0,0000 $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0,00 $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TOTAL L1-L3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Infrastructure déployée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~0,0605 $ / h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~44,13 $ / mois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463040"/>
            <a:ext cx="4297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F59E0B"/>
                </a:solidFill>
              </a:defRPr>
            </a:pPr>
            <a:r>
              <a:t>Risque Financier &amp; Règle d'Oubli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Séance de TP (3h) :
  </a:t>
            </a:r>
            <a:r>
              <a:rPr sz="1000">
                <a:solidFill>
                  <a:srgbClr val="1E293B"/>
                </a:solidFill>
              </a:rPr>
              <a:t>3 x 0,0605 $ ≈ 0,18 $ (&lt; 0,4% du crédit de 50$).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1 Semaine d'Oubli (168h) :
  </a:t>
            </a:r>
            <a:r>
              <a:rPr sz="1000">
                <a:solidFill>
                  <a:srgbClr val="1E293B"/>
                </a:solidFill>
              </a:rPr>
              <a:t>168 x 0,0605 $ ≈ 13,81 $ (≈ 27% à 35% du budget total !).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Rappel du Professeur :
  </a:t>
            </a:r>
            <a:r>
              <a:rPr sz="1000">
                <a:solidFill>
                  <a:srgbClr val="1E293B"/>
                </a:solidFill>
              </a:rPr>
              <a:t>« Une semaine d'oubli consomme environ 35% du crédit de 50 USD. »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F172A"/>
                </a:solidFill>
              </a:rPr>
              <a:t>• Solution Déployée :
  </a:t>
            </a:r>
            <a:r>
              <a:rPr sz="1000">
                <a:solidFill>
                  <a:srgbClr val="1E293B"/>
                </a:solidFill>
              </a:rPr>
              <a:t>Script d'arrêt automatique LANCER_DESTROY_AWS.bat exécuté à chaque fin de séance (destruction &lt; 3 min).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</a:defRPr>
            </a:pPr>
            <a:r>
              <a:t>DÉMONSTRATION &amp; SOUTENANCE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L3 : Déroulé Chronométré de la Démo Live (15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4E9A"/>
                </a:solidFill>
              </a:defRPr>
            </a:pPr>
            <a:r>
              <a:t>Répartition du Temps de Parole entre les 5 Étudiants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2103120"/>
          <a:ext cx="10149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828800"/>
                <a:gridCol w="484632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Chrono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Intervenant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Livrable Couvert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Action Réalisée en Direct</a:t>
                      </a:r>
                    </a:p>
                  </a:txBody>
                  <a:tcPr>
                    <a:solidFill>
                      <a:srgbClr val="004E9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00:00 - 02:30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Mohamed JEBAHI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L1 (Cadrage &amp; 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Présentation de CineTrekker, des besoins fonctionnels et du dépôt GitHub.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02:30 - 05:00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Mohamed LAAMERI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L2 (Architecture Réseau)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Explication du schéma VPC Multi-AZ, des 6 subnets et de la justification des 5 axes.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05:00 - 07:00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Salma KAHLA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L2 (Sécurité &amp; Coûts)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Démonstration du chaînage des Security Groups et du tableau d'estimation budgétaire.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07:00 - 10:30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Arij CHAIBI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L3 (IaC &amp; Live Deploy)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Lancement en direct de LANCER_DEPLOY_AWS.bat (Déploiement complet en 3 min 26 s).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10:30 - 13:00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Mouheddin KHARRAT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L3 (Preuve &amp; Destruction)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Vérification console EC2/ALB, test du site web et lancement de LANCER_DESTROY_AWS.bat.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13:00 - 15:00 : Clôture de la séance et réponses aux questions de M. Hamdi Chebbi par tous les membres.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457200"/>
          <a:lstStyle/>
          <a:p>
            <a:pPr algn="ctr">
              <a:spcAft>
                <a:spcPts val="1400"/>
              </a:spcAft>
              <a:defRPr b="1" sz="2200">
                <a:solidFill>
                  <a:srgbClr val="FFFFFF"/>
                </a:solidFill>
              </a:defRPr>
            </a:pPr>
            <a:r>
              <a:t>SYNTHÈSE DES ENGAGEMENTS &amp; CONCLUSION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284C7"/>
                </a:solidFill>
              </a:rPr>
              <a:t>  Conformité Totale : </a:t>
            </a:r>
            <a:r>
              <a:rPr sz="1200">
                <a:solidFill>
                  <a:srgbClr val="FFFFFF"/>
                </a:solidFill>
              </a:rPr>
              <a:t>100% Infrastructure as Code Terraform (aucune ressource créée manuellement).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284C7"/>
                </a:solidFill>
              </a:rPr>
              <a:t>  Résilience Éprouvée : </a:t>
            </a:r>
            <a:r>
              <a:rPr sz="1200">
                <a:solidFill>
                  <a:srgbClr val="FFFFFF"/>
                </a:solidFill>
              </a:rPr>
              <a:t>Architecture multi-AZ avec bascule automatique sans coupure de service.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284C7"/>
                </a:solidFill>
              </a:rPr>
              <a:t>  Sécurité Périmétrique : </a:t>
            </a:r>
            <a:r>
              <a:rPr sz="1200">
                <a:solidFill>
                  <a:srgbClr val="FFFFFF"/>
                </a:solidFill>
              </a:rPr>
              <a:t>Zéro port d'administration exposé (SSM Session Manager natif).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284C7"/>
                </a:solidFill>
              </a:rPr>
              <a:t>  Budget Intact : </a:t>
            </a:r>
            <a:r>
              <a:rPr sz="1200">
                <a:solidFill>
                  <a:srgbClr val="FFFFFF"/>
                </a:solidFill>
              </a:rPr>
              <a:t>Cycle de destruction &lt; 3 min préservant l'intégralité du crédit étudiant de 50$.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284C7"/>
                </a:solidFill>
              </a:rPr>
              <a:t>  Dépôt GitHub : </a:t>
            </a:r>
            <a:r>
              <a:rPr sz="1200">
                <a:solidFill>
                  <a:srgbClr val="FFFFFF"/>
                </a:solidFill>
              </a:rPr>
              <a:t>https://github.com/MohamedJebahi21/projet-aws (L1, L2, L3 disponibles).</a:t>
            </a:r>
          </a:p>
          <a:p>
            <a:br/>
            <a:pPr algn="ctr">
              <a:defRPr b="1" sz="1400">
                <a:solidFill>
                  <a:srgbClr val="10B981"/>
                </a:solidFill>
              </a:defRPr>
            </a:pPr>
            <a:r>
              <a:t>Merci pour votre attention — Nous sommes prêts pour vos questions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